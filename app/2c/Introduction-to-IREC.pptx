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6" r:id="rId3"/>
    <p:sldId id="259" r:id="rId4"/>
    <p:sldId id="260" r:id="rId5"/>
    <p:sldId id="261" r:id="rId6"/>
    <p:sldId id="264" r:id="rId7"/>
    <p:sldId id="266" r:id="rId8"/>
    <p:sldId id="265" r:id="rId9"/>
    <p:sldId id="267" r:id="rId10"/>
    <p:sldId id="263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257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788EE-C8C5-4AB9-84C8-515E750E9725}" type="datetimeFigureOut">
              <a:rPr lang="en-US" smtClean="0"/>
              <a:t>1/6/2015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68E19-2F58-475D-838D-51C842974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63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2EF32B2-FF6F-400B-8085-AEDAD17EB116}" type="datetime1">
              <a:rPr lang="en-US" smtClean="0"/>
              <a:t>1/6/2015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03FD5A-6E64-4CA1-A9C0-F77C5BEFAF8A}" type="datetime1">
              <a:rPr lang="en-US" smtClean="0"/>
              <a:t>1/6/2015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48C142-2F1E-42C6-9272-31A879FF15F0}" type="datetime1">
              <a:rPr lang="en-US" smtClean="0"/>
              <a:t>1/6/2015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B75D8F-DBFF-48C1-AB35-1E23D55DF948}" type="datetime1">
              <a:rPr lang="en-US" smtClean="0"/>
              <a:t>1/6/2015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154F049-FF89-4879-AE47-6B841D79F10B}" type="datetime1">
              <a:rPr lang="en-US" smtClean="0"/>
              <a:t>1/6/2015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58FD138-9215-4331-B2B2-A5990329A01E}" type="datetime1">
              <a:rPr lang="en-US" smtClean="0"/>
              <a:t>1/6/2015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5B853E-726F-4970-A72F-9EE843F3547E}" type="datetime1">
              <a:rPr lang="en-US" smtClean="0"/>
              <a:t>1/6/2015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774994-0996-49E8-86A7-4AFE54DFECA0}" type="datetime1">
              <a:rPr lang="en-US" smtClean="0"/>
              <a:t>1/6/2015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944F987-EE82-45FC-B500-94574AAEE05E}" type="datetime1">
              <a:rPr lang="en-US" smtClean="0"/>
              <a:t>1/6/2015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09DB3C-CE94-461A-8652-98F31C5FD513}" type="datetime1">
              <a:rPr lang="en-US" smtClean="0"/>
              <a:t>1/6/2015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7F2497-9BA0-44C5-BF64-C1EFCFF9E294}" type="datetime1">
              <a:rPr lang="en-US" smtClean="0"/>
              <a:t>1/6/2015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1890E16-5D6F-4B2E-BBBA-CCDFBC14457B}" type="datetime1">
              <a:rPr lang="en-US" smtClean="0"/>
              <a:t>1/6/2015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A616795-F4CF-4677-B439-A4AEB02DF451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orwardedge2.com/" TargetMode="External"/><Relationship Id="rId2" Type="http://schemas.openxmlformats.org/officeDocument/2006/relationships/hyperlink" Target="http://www.ncjrs.gov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tcn.org/" TargetMode="External"/><Relationship Id="rId7" Type="http://schemas.openxmlformats.org/officeDocument/2006/relationships/hyperlink" Target="http://techno-forensics.com/" TargetMode="External"/><Relationship Id="rId2" Type="http://schemas.openxmlformats.org/officeDocument/2006/relationships/hyperlink" Target="http://www.isfc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eicconference.com/" TargetMode="External"/><Relationship Id="rId5" Type="http://schemas.openxmlformats.org/officeDocument/2006/relationships/hyperlink" Target="http://www.iacis.com/" TargetMode="External"/><Relationship Id="rId4" Type="http://schemas.openxmlformats.org/officeDocument/2006/relationships/hyperlink" Target="http://www.giac.org/certifications/forensic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omputer-forensics.sans.org/blog" TargetMode="External"/><Relationship Id="rId2" Type="http://schemas.openxmlformats.org/officeDocument/2006/relationships/hyperlink" Target="http://hackingexposedcomputerforensicsblog.blogspo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orensicfocus.blogspot.com/" TargetMode="External"/><Relationship Id="rId5" Type="http://schemas.openxmlformats.org/officeDocument/2006/relationships/hyperlink" Target="http://forensicsfromthesausagefactory.blogspot.com/" TargetMode="External"/><Relationship Id="rId4" Type="http://schemas.openxmlformats.org/officeDocument/2006/relationships/hyperlink" Target="http://windowsir.blogspot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cyberspeak.libsyn.com/" TargetMode="External"/><Relationship Id="rId2" Type="http://schemas.openxmlformats.org/officeDocument/2006/relationships/hyperlink" Target="http://www,foroensic4cast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insidethecore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fe.com/" TargetMode="External"/><Relationship Id="rId2" Type="http://schemas.openxmlformats.org/officeDocument/2006/relationships/hyperlink" Target="http://www.htcia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chemeClr val="tx2"/>
                </a:solidFill>
              </a:rPr>
              <a:t>University of Illinois Springfield</a:t>
            </a:r>
            <a:br>
              <a:rPr lang="en-US" sz="2400" dirty="0" smtClean="0">
                <a:solidFill>
                  <a:schemeClr val="tx2"/>
                </a:solidFill>
              </a:rPr>
            </a:br>
            <a:r>
              <a:rPr lang="en-US" sz="2400" dirty="0" smtClean="0">
                <a:solidFill>
                  <a:schemeClr val="tx2"/>
                </a:solidFill>
              </a:rPr>
              <a:t>Department of Computer Science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1447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 smtClean="0"/>
              <a:t>CSC 470</a:t>
            </a:r>
          </a:p>
          <a:p>
            <a:pPr marL="0" indent="0" algn="ctr">
              <a:buNone/>
            </a:pPr>
            <a:r>
              <a:rPr lang="en-US" sz="2800" dirty="0" smtClean="0"/>
              <a:t>Incident Response and Evidence Collection</a:t>
            </a:r>
          </a:p>
          <a:p>
            <a:pPr marL="0" indent="0" algn="ctr">
              <a:buNone/>
            </a:pPr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640" y="3276600"/>
            <a:ext cx="1257300" cy="1760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45266" y="4794260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 smtClean="0"/>
              <a:t>January 2015</a:t>
            </a:r>
            <a:endParaRPr lang="en-US" sz="11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6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914401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Required Text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219200" y="1981200"/>
            <a:ext cx="7315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Real Digital Forensics: </a:t>
            </a:r>
            <a:r>
              <a:rPr lang="en-US" sz="1600" b="1" i="1" dirty="0" smtClean="0">
                <a:solidFill>
                  <a:srgbClr val="0070C0"/>
                </a:solidFill>
              </a:rPr>
              <a:t>Computer Security and Incident Response</a:t>
            </a:r>
          </a:p>
          <a:p>
            <a:r>
              <a:rPr lang="en-US" dirty="0" err="1"/>
              <a:t>Kieth</a:t>
            </a:r>
            <a:r>
              <a:rPr lang="en-US" dirty="0"/>
              <a:t> J. Jones; Richard </a:t>
            </a:r>
            <a:r>
              <a:rPr lang="en-US" dirty="0" err="1"/>
              <a:t>Bejtlich</a:t>
            </a:r>
            <a:r>
              <a:rPr lang="en-US" dirty="0"/>
              <a:t>; Curtis W. Rose</a:t>
            </a:r>
            <a:br>
              <a:rPr lang="en-US" dirty="0"/>
            </a:br>
            <a:r>
              <a:rPr lang="en-US" dirty="0"/>
              <a:t>Pearson Education, Inc. 2006</a:t>
            </a:r>
            <a:br>
              <a:rPr lang="en-US" dirty="0"/>
            </a:br>
            <a:r>
              <a:rPr lang="en-US" dirty="0"/>
              <a:t>ISBN: 0-321-24069-3</a:t>
            </a:r>
            <a:endParaRPr lang="en-US" altLang="en-US" dirty="0" smtClean="0"/>
          </a:p>
          <a:p>
            <a:endParaRPr lang="en-US" altLang="en-US" dirty="0"/>
          </a:p>
          <a:p>
            <a:r>
              <a:rPr lang="en-US" altLang="en-US" b="1" dirty="0" smtClean="0">
                <a:solidFill>
                  <a:srgbClr val="0070C0"/>
                </a:solidFill>
              </a:rPr>
              <a:t>Best Practices for Seizing Electronic Evidence: </a:t>
            </a:r>
            <a:r>
              <a:rPr lang="en-US" altLang="en-US" sz="1600" b="1" i="1" dirty="0" smtClean="0">
                <a:solidFill>
                  <a:srgbClr val="0070C0"/>
                </a:solidFill>
              </a:rPr>
              <a:t>A Pocket Guide for First Responders</a:t>
            </a:r>
            <a:r>
              <a:rPr lang="en-US" altLang="en-US" b="1" dirty="0" smtClean="0">
                <a:solidFill>
                  <a:srgbClr val="0070C0"/>
                </a:solidFill>
              </a:rPr>
              <a:t>, </a:t>
            </a:r>
            <a:r>
              <a:rPr lang="en-US" altLang="en-US" dirty="0" smtClean="0">
                <a:solidFill>
                  <a:srgbClr val="0070C0"/>
                </a:solidFill>
              </a:rPr>
              <a:t>v3.</a:t>
            </a:r>
            <a:r>
              <a:rPr lang="en-US" altLang="en-US" b="1" dirty="0" smtClean="0">
                <a:solidFill>
                  <a:srgbClr val="0070C0"/>
                </a:solidFill>
              </a:rPr>
              <a:t> </a:t>
            </a:r>
          </a:p>
          <a:p>
            <a:r>
              <a:rPr lang="en-US" altLang="en-US" dirty="0" smtClean="0"/>
              <a:t>U.S. Department of Homeland Security</a:t>
            </a:r>
          </a:p>
          <a:p>
            <a:r>
              <a:rPr lang="en-US" altLang="en-US" dirty="0" smtClean="0"/>
              <a:t>United States Secret Service</a:t>
            </a:r>
          </a:p>
          <a:p>
            <a:endParaRPr lang="en-US" altLang="en-US" dirty="0"/>
          </a:p>
          <a:p>
            <a:r>
              <a:rPr lang="en-US" altLang="en-US" dirty="0" smtClean="0"/>
              <a:t>Article:</a:t>
            </a:r>
          </a:p>
          <a:p>
            <a:r>
              <a:rPr lang="en-US" altLang="en-US" b="1" dirty="0" err="1" smtClean="0">
                <a:solidFill>
                  <a:srgbClr val="0070C0"/>
                </a:solidFill>
              </a:rPr>
              <a:t>Locard’s</a:t>
            </a:r>
            <a:r>
              <a:rPr lang="en-US" altLang="en-US" b="1" dirty="0" smtClean="0">
                <a:solidFill>
                  <a:srgbClr val="0070C0"/>
                </a:solidFill>
              </a:rPr>
              <a:t> Exchange Principle</a:t>
            </a:r>
          </a:p>
          <a:p>
            <a:r>
              <a:rPr lang="en-US" altLang="en-US" dirty="0" smtClean="0"/>
              <a:t>Available on Blackboard </a:t>
            </a:r>
            <a:endParaRPr lang="en-US" altLang="en-US" dirty="0"/>
          </a:p>
          <a:p>
            <a:r>
              <a:rPr lang="en-US" altLang="en-US" dirty="0" smtClean="0"/>
              <a:t>http</a:t>
            </a:r>
            <a:r>
              <a:rPr lang="en-US" altLang="en-US" dirty="0"/>
              <a:t>://science.howstuffworks.com/locards-exchange-principle2.htm</a:t>
            </a:r>
            <a:endParaRPr lang="en-US" alt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2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914401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Required Text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264920" y="1905000"/>
            <a:ext cx="73152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Real Digital Forensics: </a:t>
            </a:r>
            <a:r>
              <a:rPr lang="en-US" sz="1600" b="1" i="1" dirty="0" smtClean="0">
                <a:solidFill>
                  <a:srgbClr val="0070C0"/>
                </a:solidFill>
              </a:rPr>
              <a:t>Computer Security and Incident Response</a:t>
            </a:r>
          </a:p>
          <a:p>
            <a:r>
              <a:rPr lang="en-US" dirty="0" err="1"/>
              <a:t>Kieth</a:t>
            </a:r>
            <a:r>
              <a:rPr lang="en-US" dirty="0"/>
              <a:t> J. Jones; Richard </a:t>
            </a:r>
            <a:r>
              <a:rPr lang="en-US" dirty="0" err="1"/>
              <a:t>Bejtlich</a:t>
            </a:r>
            <a:r>
              <a:rPr lang="en-US" dirty="0"/>
              <a:t>; Curtis W. Rose</a:t>
            </a:r>
            <a:br>
              <a:rPr lang="en-US" dirty="0"/>
            </a:br>
            <a:r>
              <a:rPr lang="en-US" dirty="0"/>
              <a:t>Pearson Education, Inc. 2006</a:t>
            </a:r>
            <a:br>
              <a:rPr lang="en-US" dirty="0"/>
            </a:br>
            <a:r>
              <a:rPr lang="en-US" dirty="0"/>
              <a:t>ISBN: </a:t>
            </a:r>
            <a:r>
              <a:rPr lang="en-US" dirty="0" smtClean="0"/>
              <a:t>0-321-24069-3</a:t>
            </a:r>
            <a:endParaRPr lang="en-US" altLang="en-US" dirty="0" smtClean="0"/>
          </a:p>
          <a:p>
            <a:endParaRPr lang="en-US" altLang="en-US" dirty="0" smtClean="0"/>
          </a:p>
          <a:p>
            <a:r>
              <a:rPr lang="en-US" altLang="en-US" sz="1400" dirty="0" smtClean="0"/>
              <a:t>Available from the following locations:</a:t>
            </a:r>
          </a:p>
          <a:p>
            <a:r>
              <a:rPr lang="en-US" altLang="en-US" dirty="0" smtClean="0"/>
              <a:t>	UIS Bookstore - located at Founders Hall on campus</a:t>
            </a:r>
          </a:p>
          <a:p>
            <a:r>
              <a:rPr lang="en-US" altLang="en-US" dirty="0" smtClean="0"/>
              <a:t>	Amazon.com  - in Paperback and Kindle editions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343400"/>
            <a:ext cx="1295400" cy="1796288"/>
          </a:xfrm>
          <a:prstGeom prst="rect">
            <a:avLst/>
          </a:prstGeom>
          <a:ln w="22225">
            <a:solidFill>
              <a:srgbClr val="0070C0"/>
            </a:solidFill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3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914401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Required Text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143000" y="1901188"/>
            <a:ext cx="7315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 smtClean="0">
                <a:solidFill>
                  <a:srgbClr val="0070C0"/>
                </a:solidFill>
              </a:rPr>
              <a:t>Best Practices for Seizing Electronic Evidence: </a:t>
            </a:r>
            <a:r>
              <a:rPr lang="en-US" altLang="en-US" sz="1600" b="1" i="1" dirty="0" smtClean="0">
                <a:solidFill>
                  <a:srgbClr val="0070C0"/>
                </a:solidFill>
              </a:rPr>
              <a:t>A Pocket Guide for First Responders, </a:t>
            </a:r>
            <a:r>
              <a:rPr lang="en-US" altLang="en-US" sz="1600" i="1" dirty="0" smtClean="0">
                <a:solidFill>
                  <a:srgbClr val="0070C0"/>
                </a:solidFill>
              </a:rPr>
              <a:t>v3.</a:t>
            </a:r>
            <a:r>
              <a:rPr lang="en-US" altLang="en-US" sz="1600" b="1" i="1" dirty="0" smtClean="0">
                <a:solidFill>
                  <a:srgbClr val="0070C0"/>
                </a:solidFill>
              </a:rPr>
              <a:t> </a:t>
            </a:r>
          </a:p>
          <a:p>
            <a:r>
              <a:rPr lang="en-US" altLang="en-US" sz="1600" dirty="0" smtClean="0"/>
              <a:t>U.S. Department of Homeland Security</a:t>
            </a:r>
          </a:p>
          <a:p>
            <a:r>
              <a:rPr lang="en-US" altLang="en-US" sz="1600" dirty="0" smtClean="0"/>
              <a:t>United States Secret Service</a:t>
            </a:r>
          </a:p>
          <a:p>
            <a:endParaRPr lang="en-US" altLang="en-US" dirty="0"/>
          </a:p>
          <a:p>
            <a:r>
              <a:rPr lang="en-US" altLang="en-US" dirty="0" smtClean="0"/>
              <a:t>Available in PDF format from the following locations: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	Course Blackboard  </a:t>
            </a:r>
          </a:p>
          <a:p>
            <a:r>
              <a:rPr lang="en-US" altLang="en-US" dirty="0" smtClean="0"/>
              <a:t>	Online</a:t>
            </a:r>
          </a:p>
          <a:p>
            <a:r>
              <a:rPr lang="en-US" altLang="en-US" dirty="0"/>
              <a:t>	</a:t>
            </a:r>
            <a:r>
              <a:rPr lang="en-US" altLang="en-US" dirty="0" smtClean="0">
                <a:hlinkClick r:id="rId2"/>
              </a:rPr>
              <a:t>www.ncjrs.gov</a:t>
            </a:r>
            <a:r>
              <a:rPr lang="en-US" altLang="en-US" dirty="0" smtClean="0"/>
              <a:t> </a:t>
            </a:r>
          </a:p>
          <a:p>
            <a:r>
              <a:rPr lang="en-US" altLang="en-US" dirty="0" smtClean="0"/>
              <a:t>	</a:t>
            </a:r>
            <a:r>
              <a:rPr lang="en-US" dirty="0" smtClean="0">
                <a:hlinkClick r:id="rId3"/>
              </a:rPr>
              <a:t>www.forwardedge2.com</a:t>
            </a:r>
            <a:endParaRPr lang="en-US" dirty="0" smtClean="0"/>
          </a:p>
          <a:p>
            <a:endParaRPr lang="en-US" dirty="0" smtClean="0"/>
          </a:p>
          <a:p>
            <a:endParaRPr lang="en-US" alt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962400"/>
            <a:ext cx="1371600" cy="2016623"/>
          </a:xfrm>
          <a:prstGeom prst="rect">
            <a:avLst/>
          </a:prstGeom>
          <a:ln w="22225">
            <a:solidFill>
              <a:srgbClr val="0070C0"/>
            </a:solidFill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7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Course Content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Eight Labs</a:t>
            </a:r>
          </a:p>
          <a:p>
            <a:r>
              <a:rPr lang="en-US" sz="2400" dirty="0"/>
              <a:t>Nine Quizzes</a:t>
            </a:r>
          </a:p>
          <a:p>
            <a:r>
              <a:rPr lang="en-US" sz="2400" dirty="0" smtClean="0"/>
              <a:t>Eight Chapters</a:t>
            </a:r>
          </a:p>
          <a:p>
            <a:r>
              <a:rPr lang="en-US" sz="2400" dirty="0" smtClean="0"/>
              <a:t>Eight Discussion Questions</a:t>
            </a:r>
          </a:p>
          <a:p>
            <a:r>
              <a:rPr lang="en-US" sz="2400" dirty="0" smtClean="0"/>
              <a:t>Midterm </a:t>
            </a:r>
            <a:r>
              <a:rPr lang="en-US" sz="2400" dirty="0"/>
              <a:t>Practical Exercise</a:t>
            </a:r>
          </a:p>
          <a:p>
            <a:endParaRPr 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2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Training Conferences and Certifying Boards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The International Society of Forensic Computer Examiners </a:t>
            </a:r>
            <a:r>
              <a:rPr lang="en-US" sz="1800" dirty="0" smtClean="0"/>
              <a:t>maintains the </a:t>
            </a:r>
            <a:r>
              <a:rPr lang="en-US" sz="1800" i="1" dirty="0" smtClean="0"/>
              <a:t>Certified Computer Examiner </a:t>
            </a:r>
            <a:r>
              <a:rPr lang="en-US" sz="1800" dirty="0" smtClean="0"/>
              <a:t>certification, which has grown to be one of the most recognized vendor-neutral computer forensic certifications.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2"/>
              </a:rPr>
              <a:t>http://www.isfce.com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High Tech Crime Network </a:t>
            </a:r>
            <a:r>
              <a:rPr lang="en-US" sz="1800" dirty="0" smtClean="0"/>
              <a:t>offers multiple levels of certification depending on your knowledge and practical work experience. 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3"/>
              </a:rPr>
              <a:t>http://www.htcn.org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SANS</a:t>
            </a:r>
            <a:r>
              <a:rPr lang="en-US" sz="1800" dirty="0" smtClean="0"/>
              <a:t> focuses on a series of </a:t>
            </a:r>
            <a:r>
              <a:rPr lang="en-US" sz="1800" i="1" dirty="0" smtClean="0"/>
              <a:t>Global Information Assurance Certification </a:t>
            </a:r>
            <a:r>
              <a:rPr lang="en-US" sz="1800" dirty="0" smtClean="0"/>
              <a:t>(GIAC) specialties and specifically offers a computer forensics track (</a:t>
            </a:r>
            <a:r>
              <a:rPr lang="en-US" sz="1600" dirty="0" err="1" smtClean="0"/>
              <a:t>SysAdmin</a:t>
            </a:r>
            <a:r>
              <a:rPr lang="en-US" sz="1600" dirty="0"/>
              <a:t>, Audit, Network, and </a:t>
            </a:r>
            <a:r>
              <a:rPr lang="en-US" sz="1600" dirty="0" smtClean="0"/>
              <a:t>Security). 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4"/>
              </a:rPr>
              <a:t>http://www.giac.org/certifications/forensics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International Association of Computer Investigative Specialists </a:t>
            </a:r>
            <a:r>
              <a:rPr lang="en-US" sz="1800" dirty="0" smtClean="0"/>
              <a:t>(IACIS) provides the </a:t>
            </a:r>
            <a:r>
              <a:rPr lang="en-US" sz="1800" i="1" dirty="0" smtClean="0"/>
              <a:t>Certified Forensic Computer Examiner </a:t>
            </a:r>
            <a:r>
              <a:rPr lang="en-US" sz="1800" dirty="0" smtClean="0"/>
              <a:t>(CFCE) certification, which was previously open to only law enforcement personnel, but is now open to the general public.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5"/>
              </a:rPr>
              <a:t>http://www.iacis.com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CEIC</a:t>
            </a:r>
            <a:r>
              <a:rPr lang="en-US" sz="1800" dirty="0" smtClean="0"/>
              <a:t> is an annual conference and sometimes offers tracks devoted to the use of </a:t>
            </a:r>
            <a:r>
              <a:rPr lang="en-US" sz="1800" dirty="0" err="1" smtClean="0"/>
              <a:t>EnCase</a:t>
            </a:r>
            <a:r>
              <a:rPr lang="en-US" sz="1800" dirty="0" smtClean="0"/>
              <a:t>, but it also contains sessions on vendor-neutral topics (</a:t>
            </a:r>
            <a:r>
              <a:rPr lang="en-US" sz="1600" dirty="0"/>
              <a:t>Computer and Enterprise </a:t>
            </a:r>
            <a:r>
              <a:rPr lang="en-US" sz="1600" dirty="0" smtClean="0"/>
              <a:t>Investigations).  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6"/>
              </a:rPr>
              <a:t>http://ceicconference.com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Techno Forensics </a:t>
            </a:r>
            <a:r>
              <a:rPr lang="en-US" sz="1800" dirty="0" smtClean="0"/>
              <a:t>provides a non-vendor drive conference.  There is no specific focus on law enforcement, so any type of computer forensic examiner is welcome. 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7"/>
              </a:rPr>
              <a:t>http://techno-forensics.com</a:t>
            </a:r>
            <a:endParaRPr lang="en-US" sz="1800" dirty="0" smtClean="0"/>
          </a:p>
          <a:p>
            <a:pPr marL="82296" indent="0">
              <a:buNone/>
            </a:pPr>
            <a:endParaRPr lang="en-US" sz="1800" dirty="0" smtClean="0"/>
          </a:p>
          <a:p>
            <a:pPr marL="82296" indent="0"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University of Illinois Springfield CSC 470 Incident Response and Evidence Collection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8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Blogs for Digital Forensic Resources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sz="1800" dirty="0" smtClean="0"/>
              <a:t>Blogs are great resources for computer forensic information.  Most computer forensic techniques and procedures were once considered secrets, and most people hesitated to detail their techniques outside of law enforcement. </a:t>
            </a:r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Hacking Exposed Computer Forensics Blog </a:t>
            </a:r>
            <a:r>
              <a:rPr lang="en-US" sz="1800" dirty="0" smtClean="0"/>
              <a:t>covers very advanced hacking topics.  See the McGraw-Hill’s </a:t>
            </a:r>
            <a:r>
              <a:rPr lang="en-US" sz="1800" i="1" dirty="0" smtClean="0"/>
              <a:t>Hacking Exposed Computer Forensic </a:t>
            </a:r>
            <a:r>
              <a:rPr lang="en-US" sz="1800" dirty="0" smtClean="0"/>
              <a:t>series for more information.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2"/>
              </a:rPr>
              <a:t>http://hackingexposedcomputerforensicsblog.blogspot.com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SANS: Computer Forensics and Incident Response with Rob Lee </a:t>
            </a:r>
            <a:r>
              <a:rPr lang="en-US" sz="1800" dirty="0" smtClean="0"/>
              <a:t>and his team constantly keep this site updated with new techniques and free tools that they either promote or develop themselves. 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3"/>
              </a:rPr>
              <a:t>http://computer-forensics.sans.org/blog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Windows Incident Response by Harlan Carvery </a:t>
            </a:r>
            <a:r>
              <a:rPr lang="en-US" sz="1800" dirty="0" smtClean="0"/>
              <a:t>has many books on </a:t>
            </a:r>
            <a:r>
              <a:rPr lang="en-US" sz="1800" i="1" dirty="0" smtClean="0"/>
              <a:t>forensics and incident response.  </a:t>
            </a:r>
            <a:r>
              <a:rPr lang="en-US" sz="1800" dirty="0" smtClean="0"/>
              <a:t>This blog keeps readers up-to-date on new tools, techniques, and topics being researched. 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4"/>
              </a:rPr>
              <a:t>http://windowsir.blogspot.com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Forensics from the Sausage Factory by Richard Drinkwater </a:t>
            </a:r>
            <a:r>
              <a:rPr lang="en-US" sz="1800" dirty="0" smtClean="0"/>
              <a:t>provides forensic information often not found elsewhere. From details on GPS devices to new operating systems forensic techniques.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5"/>
              </a:rPr>
              <a:t>http://forensicsfromthesausagefactory.blogspot.com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Forensic Focus Blog by Jamie Morris </a:t>
            </a:r>
            <a:r>
              <a:rPr lang="en-US" sz="1800" dirty="0" smtClean="0"/>
              <a:t>is one of the best publicly accessible computer forensic forums around. It contains new content from columnists, interviews, and new events. 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6"/>
              </a:rPr>
              <a:t>http://forensicfocus.blogspot.com</a:t>
            </a:r>
            <a:endParaRPr lang="en-US" sz="1800" dirty="0" smtClean="0"/>
          </a:p>
          <a:p>
            <a:pPr marL="82296" indent="0"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6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Podcasts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1800" dirty="0" smtClean="0"/>
              <a:t>Listening to podcasts while working can be a very effective way to keep up with the latest news.  Here are just a few…</a:t>
            </a:r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Forensic 4cast </a:t>
            </a:r>
            <a:r>
              <a:rPr lang="en-US" sz="1800" dirty="0" smtClean="0"/>
              <a:t>is one of the most popular </a:t>
            </a:r>
            <a:r>
              <a:rPr lang="en-US" sz="1800" dirty="0" err="1" smtClean="0"/>
              <a:t>podcats</a:t>
            </a:r>
            <a:r>
              <a:rPr lang="en-US" sz="1800" dirty="0" smtClean="0"/>
              <a:t> and focuses exclusively on computer forensics.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2"/>
              </a:rPr>
              <a:t>http://www,foroensic4cast.com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err="1" smtClean="0">
                <a:solidFill>
                  <a:srgbClr val="0070C0"/>
                </a:solidFill>
              </a:rPr>
              <a:t>CyberSpeak</a:t>
            </a:r>
            <a:r>
              <a:rPr lang="en-US" sz="1800" b="1" i="1" dirty="0" smtClean="0"/>
              <a:t> </a:t>
            </a:r>
            <a:r>
              <a:rPr lang="en-US" sz="1800" dirty="0" smtClean="0"/>
              <a:t>offers a mix of computer forensics and computer security information.</a:t>
            </a:r>
            <a:endParaRPr lang="en-US" sz="1800" b="1" i="1" dirty="0" smtClean="0"/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3"/>
              </a:rPr>
              <a:t>http://cyberspeak.libsyn.com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Inside the Core</a:t>
            </a:r>
            <a:r>
              <a:rPr lang="en-US" sz="1800" dirty="0" smtClean="0"/>
              <a:t> is unique in that it focuses only on Macintosh forensics</a:t>
            </a:r>
            <a:endParaRPr lang="en-US" sz="1800" b="1" i="1" dirty="0" smtClean="0"/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4"/>
              </a:rPr>
              <a:t>http://insidethecore.com</a:t>
            </a:r>
            <a:endParaRPr lang="en-US" sz="1800" dirty="0" smtClean="0"/>
          </a:p>
          <a:p>
            <a:pPr marL="82296" indent="0">
              <a:buNone/>
            </a:pPr>
            <a:endParaRPr lang="en-US" sz="1800" dirty="0" smtClean="0"/>
          </a:p>
          <a:p>
            <a:pPr marL="82296" indent="0">
              <a:buNone/>
            </a:pPr>
            <a:endParaRPr lang="en-US" sz="1800" dirty="0" smtClean="0"/>
          </a:p>
          <a:p>
            <a:pPr marL="82296" indent="0"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4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Associations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1800" dirty="0" smtClean="0"/>
              <a:t>Networking can also be a great way to stay current. The contacts you make in the industry at conferences or association meetings can be of great help when you find yourself in new territory.</a:t>
            </a:r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High Tech Crime Investigators Association International </a:t>
            </a:r>
            <a:r>
              <a:rPr lang="en-US" sz="1800" dirty="0" smtClean="0"/>
              <a:t>is one of the oldest computer forensic organizations around. With chapters around the world, HTCIA provides local training and networking to criminal and civil forensic examiners. 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2"/>
              </a:rPr>
              <a:t>http://www.htcia.org</a:t>
            </a:r>
            <a:endParaRPr lang="en-US" sz="1800" dirty="0" smtClean="0"/>
          </a:p>
          <a:p>
            <a:pPr marL="82296" indent="0">
              <a:buNone/>
            </a:pPr>
            <a:r>
              <a:rPr lang="en-US" sz="1800" b="1" i="1" dirty="0" smtClean="0">
                <a:solidFill>
                  <a:srgbClr val="0070C0"/>
                </a:solidFill>
              </a:rPr>
              <a:t>Association of Certified Fraud Examiners </a:t>
            </a:r>
            <a:r>
              <a:rPr lang="en-US" sz="1800" dirty="0" smtClean="0"/>
              <a:t>offers a good way to meet peers and learn what trends are forming. It also offers a certification that you can achieve remotely.</a:t>
            </a:r>
          </a:p>
          <a:p>
            <a:pPr marL="82296" indent="0">
              <a:buNone/>
            </a:pPr>
            <a:r>
              <a:rPr lang="en-US" sz="1800" dirty="0"/>
              <a:t>	</a:t>
            </a:r>
            <a:r>
              <a:rPr lang="en-US" sz="1800" dirty="0" smtClean="0">
                <a:hlinkClick r:id="rId3"/>
              </a:rPr>
              <a:t>http://www.acfe.com</a:t>
            </a:r>
            <a:endParaRPr lang="en-US" sz="1800" dirty="0" smtClean="0"/>
          </a:p>
          <a:p>
            <a:pPr marL="82296" indent="0">
              <a:buNone/>
            </a:pPr>
            <a:endParaRPr lang="en-US" sz="1800" dirty="0" smtClean="0"/>
          </a:p>
          <a:p>
            <a:pPr marL="82296" indent="0">
              <a:buNone/>
            </a:pPr>
            <a:endParaRPr lang="en-US" sz="1800" dirty="0" smtClean="0"/>
          </a:p>
          <a:p>
            <a:pPr marL="82296" indent="0"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4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/>
              <a:t>Netlab</a:t>
            </a:r>
            <a:r>
              <a:rPr lang="en-US" sz="2800" dirty="0" smtClean="0"/>
              <a:t> and Virtual Machines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Login to </a:t>
            </a:r>
            <a:r>
              <a:rPr lang="en-US" sz="2400" dirty="0" err="1" smtClean="0"/>
              <a:t>Netlab</a:t>
            </a:r>
            <a:r>
              <a:rPr lang="en-US" sz="2400" dirty="0" smtClean="0"/>
              <a:t> (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uisnetlab1.uis.edu</a:t>
            </a:r>
            <a:r>
              <a:rPr lang="en-US" sz="2400" dirty="0" smtClean="0"/>
              <a:t>)</a:t>
            </a:r>
          </a:p>
          <a:p>
            <a:pPr lvl="1"/>
            <a:r>
              <a:rPr lang="en-US" sz="2000" dirty="0" smtClean="0"/>
              <a:t>Your student </a:t>
            </a:r>
            <a:r>
              <a:rPr lang="en-US" sz="2000" dirty="0" err="1" smtClean="0"/>
              <a:t>userid</a:t>
            </a:r>
            <a:r>
              <a:rPr lang="en-US" sz="2000" dirty="0" smtClean="0"/>
              <a:t>… </a:t>
            </a:r>
          </a:p>
          <a:p>
            <a:pPr lvl="1"/>
            <a:r>
              <a:rPr lang="en-US" sz="2000" dirty="0" smtClean="0"/>
              <a:t>Password provided by your instructor.</a:t>
            </a:r>
          </a:p>
          <a:p>
            <a:pPr marL="457200" lvl="1" indent="0">
              <a:buNone/>
            </a:pPr>
            <a:r>
              <a:rPr lang="en-US" sz="2000" dirty="0" smtClean="0"/>
              <a:t>Click on:</a:t>
            </a:r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Scheduler</a:t>
            </a:r>
          </a:p>
          <a:p>
            <a:pPr marL="457200" lvl="1" indent="0">
              <a:buNone/>
            </a:pPr>
            <a:r>
              <a:rPr lang="en-US" sz="2000" dirty="0" smtClean="0"/>
              <a:t>	</a:t>
            </a:r>
            <a:r>
              <a:rPr lang="en-US" sz="20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Reserve equipment </a:t>
            </a:r>
            <a:r>
              <a:rPr 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</a:t>
            </a:r>
            <a:r>
              <a:rPr lang="en-US" sz="20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od for your own use</a:t>
            </a:r>
          </a:p>
          <a:p>
            <a:pPr marL="457200" lvl="1" indent="0">
              <a:buNone/>
            </a:pPr>
            <a:r>
              <a:rPr lang="en-US" sz="2000" dirty="0" smtClean="0"/>
              <a:t>	Click on or immediately beneath the </a:t>
            </a:r>
            <a:r>
              <a:rPr lang="en-US" sz="2000" dirty="0" smtClean="0">
                <a:solidFill>
                  <a:srgbClr val="FF0000"/>
                </a:solidFill>
              </a:rPr>
              <a:t>red line</a:t>
            </a:r>
          </a:p>
          <a:p>
            <a:pPr marL="457200" lvl="1" indent="0">
              <a:buNone/>
            </a:pPr>
            <a:r>
              <a:rPr lang="en-US" sz="2000" dirty="0" smtClean="0"/>
              <a:t>	</a:t>
            </a: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OK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000" b="1" dirty="0"/>
              <a:t>	</a:t>
            </a: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I’m Done</a:t>
            </a:r>
          </a:p>
          <a:p>
            <a:pPr marL="457200" lvl="1" indent="0">
              <a:buNone/>
            </a:pPr>
            <a:r>
              <a:rPr lang="en-US" sz="2000" dirty="0" smtClean="0"/>
              <a:t>	</a:t>
            </a: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Enter Lab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Client</a:t>
            </a:r>
            <a:r>
              <a:rPr lang="en-US" sz="2000" dirty="0" smtClean="0"/>
              <a:t> icon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endParaRPr lang="en-US" sz="2000" dirty="0" smtClean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2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838200"/>
            <a:ext cx="749808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CSC 470</a:t>
            </a:r>
            <a:br>
              <a:rPr lang="en-US" sz="3200" dirty="0" smtClean="0"/>
            </a:br>
            <a:r>
              <a:rPr lang="en-US" sz="3200" dirty="0" smtClean="0"/>
              <a:t>Incident Response and Evidence Collection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362200"/>
            <a:ext cx="7498080" cy="3886200"/>
          </a:xfrm>
        </p:spPr>
        <p:txBody>
          <a:bodyPr/>
          <a:lstStyle/>
          <a:p>
            <a:pPr marL="82296" indent="0">
              <a:buNone/>
            </a:pPr>
            <a:r>
              <a:rPr lang="en-US" dirty="0" smtClean="0"/>
              <a:t>Questions?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University of Illinois Springfield CSC 470 Incident Response and Evidence Collection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6795-F4CF-4677-B439-A4AEB02DF451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3" descr="C:\Documents and Settings\Gene Shantz\Local Settings\Temporary Internet Files\Content.IE5\4SPWQSSZ\MC900082279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520" y="3200400"/>
            <a:ext cx="2362200" cy="2153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91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434</TotalTime>
  <Words>478</Words>
  <Application>Microsoft Office PowerPoint</Application>
  <PresentationFormat>On-screen Show (4:3)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Gill Sans MT</vt:lpstr>
      <vt:lpstr>Verdana</vt:lpstr>
      <vt:lpstr>Wingdings 2</vt:lpstr>
      <vt:lpstr>Solstice</vt:lpstr>
      <vt:lpstr>University of Illinois Springfield Department of Computer Science</vt:lpstr>
      <vt:lpstr>Required Text</vt:lpstr>
      <vt:lpstr>Required Text</vt:lpstr>
      <vt:lpstr>Required Text</vt:lpstr>
      <vt:lpstr>Course Content</vt:lpstr>
      <vt:lpstr>Training Conferences and Certifying Boards</vt:lpstr>
      <vt:lpstr>Blogs for Digital Forensic Resources</vt:lpstr>
      <vt:lpstr>Podcasts</vt:lpstr>
      <vt:lpstr>Associations</vt:lpstr>
      <vt:lpstr>Netlab and Virtual Machines</vt:lpstr>
      <vt:lpstr>CSC 470 Incident Response and Evidence Collection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470 Incident Response and Evidence Collection</dc:title>
  <dc:creator>Sam</dc:creator>
  <cp:lastModifiedBy>Svet</cp:lastModifiedBy>
  <cp:revision>75</cp:revision>
  <dcterms:created xsi:type="dcterms:W3CDTF">2014-11-12T12:56:31Z</dcterms:created>
  <dcterms:modified xsi:type="dcterms:W3CDTF">2015-01-07T00:46:42Z</dcterms:modified>
</cp:coreProperties>
</file>